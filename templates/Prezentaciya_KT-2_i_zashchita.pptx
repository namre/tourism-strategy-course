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слайд: название объекта, вид работы, автор.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мысль на слайд. Замените текст в квадратных скобках своими данными; источники — в записке.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мысль на слайд. Замените текст в квадратных скобках своими данными; источники — в записке.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мысль на слайд. Замените текст в квадратных скобках своими данными; источники — в записке.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мысль на слайд. Замените текст в квадратных скобках своими данными; источники — в записке.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мысль на слайд. Замените текст в квадратных скобках своими данными; источники — в записке.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мысль на слайд. Замените текст в квадратных скобках своими данными; источники — в записке.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мысль на слайд. Замените текст в квадратных скобках своими данными; источники — в записке.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мысль на слайд. Замените текст в квадратных скобках своими данными; источники — в записке.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мысль на слайд. Замените текст в квадратных скобках своими данными; источники — в записке.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[Название организации или объекта]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D8C"/>
                </a:solidFill>
              </a:rPr>
              <a:t>Анализ маркетинговой среды · итоговая контрольная работа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ED8C"/>
                </a:solidFill>
              </a:rPr>
              <a:t>[Ф. И. О., группа] · Астрахань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Стратегический вопрос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36D"/>
                </a:solidFill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2560320"/>
          </a:xfrm>
          <a:prstGeom prst="roundRect">
            <a:avLst>
              <a:gd name="adj" fmla="val 5357"/>
            </a:avLst>
          </a:prstGeom>
          <a:solidFill>
            <a:srgbClr val="F4F3ED"/>
          </a:solidFill>
          <a:ln w="12700">
            <a:solidFill>
              <a:srgbClr val="DBE2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27"/>
                </a:solidFill>
              </a:rPr>
              <a:t>Цель · горизонт · единица анализа · две альтернативы · главное ограничение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 в цифрах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36D"/>
                </a:solidFill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D6ED8C"/>
          </a:solidFill>
          <a:ln w="12700">
            <a:solidFill>
              <a:srgbClr val="DBE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163E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7"/>
                </a:solidFill>
              </a:rPr>
              <a:t>Мощность и её единица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4F3ED"/>
          </a:solidFill>
          <a:ln w="12700">
            <a:solidFill>
              <a:srgbClr val="DB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600200"/>
            <a:ext cx="502920" cy="502920"/>
          </a:xfrm>
          <a:prstGeom prst="ellipse">
            <a:avLst/>
          </a:prstGeom>
          <a:solidFill>
            <a:srgbClr val="163E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28600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7"/>
                </a:solidFill>
              </a:rPr>
              <a:t>Сезонность: пик и межсезонье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4F3ED"/>
          </a:solidFill>
          <a:ln w="12700">
            <a:solidFill>
              <a:srgbClr val="DBE2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rgbClr val="163E3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28600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7"/>
                </a:solidFill>
              </a:rPr>
              <a:t>Каналы продаж и их доля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 клиента (КТ-1)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36D"/>
                </a:solidFill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D6ED8C"/>
          </a:solidFill>
          <a:ln w="12700">
            <a:solidFill>
              <a:srgbClr val="DBE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163E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7"/>
                </a:solidFill>
              </a:rPr>
              <a:t>3 потребности с источниками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4F3ED"/>
          </a:solidFill>
          <a:ln w="12700">
            <a:solidFill>
              <a:srgbClr val="DB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600200"/>
            <a:ext cx="502920" cy="502920"/>
          </a:xfrm>
          <a:prstGeom prst="ellipse">
            <a:avLst/>
          </a:prstGeom>
          <a:solidFill>
            <a:srgbClr val="163E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28600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7"/>
                </a:solidFill>
              </a:rPr>
              <a:t>Неожиданная находка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4F3ED"/>
          </a:solidFill>
          <a:ln w="12700">
            <a:solidFill>
              <a:srgbClr val="DBE2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rgbClr val="163E3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28600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7"/>
                </a:solidFill>
              </a:rPr>
              <a:t>Ограничения выборки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STEP: факторы среды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36D"/>
                </a:solidFill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1828800"/>
                <a:gridCol w="2194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27"/>
                          </a:solidFill>
                        </a:rPr>
                        <a:t>Группа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27"/>
                          </a:solidFill>
                        </a:rPr>
                        <a:t>Фактор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27"/>
                          </a:solidFill>
                        </a:rPr>
                        <a:t>Источник, дата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27"/>
                          </a:solidFill>
                        </a:rPr>
                        <a:t>Вывод для объекта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8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7"/>
                          </a:solidFill>
                        </a:rPr>
                        <a:t>Социокультурные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7"/>
                          </a:solidFill>
                        </a:rPr>
                        <a:t>Технологические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7"/>
                          </a:solidFill>
                        </a:rPr>
                        <a:t>Экономические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7"/>
                          </a:solidFill>
                        </a:rPr>
                        <a:t>Политико-правовые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 с силой свидетельства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36D"/>
                </a:solidFill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4F3ED"/>
          </a:solidFill>
          <a:ln w="12700">
            <a:solidFill>
              <a:srgbClr val="DBE2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E37"/>
                </a:solidFill>
              </a:rPr>
              <a:t>Сильные стороны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2736D"/>
                </a:solidFill>
              </a:rPr>
              <a:t>Утверждение · свидетельство · [факт / оценка / допущение]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17720" y="123444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BE2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3716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E37"/>
                </a:solidFill>
              </a:rPr>
              <a:t>Слабые стороны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2736D"/>
                </a:solidFill>
              </a:rPr>
              <a:t>Утверждение · свидетельство · [факт / оценка / допущение]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BE2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1546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E37"/>
                </a:solidFill>
              </a:rPr>
              <a:t>Возможности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2736D"/>
                </a:solidFill>
              </a:rPr>
              <a:t>Утверждение · свидетельство · [факт / оценка / допущение]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17720" y="301752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4F3ED"/>
          </a:solidFill>
          <a:ln w="12700">
            <a:solidFill>
              <a:srgbClr val="DBE2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31546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E37"/>
                </a:solidFill>
              </a:rPr>
              <a:t>Угрозы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2736D"/>
                </a:solidFill>
              </a:rPr>
              <a:t>Утверждение · свидетельство · [факт / оценка / допущение]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TOWS: стратегические варианты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36D"/>
                </a:solidFill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D6ED8C"/>
          </a:solidFill>
          <a:ln w="12700">
            <a:solidFill>
              <a:srgbClr val="DBE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163E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7"/>
                </a:solidFill>
              </a:rPr>
              <a:t>Сила + возможность 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4F3ED"/>
          </a:solidFill>
          <a:ln w="12700">
            <a:solidFill>
              <a:srgbClr val="DB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600200"/>
            <a:ext cx="502920" cy="502920"/>
          </a:xfrm>
          <a:prstGeom prst="ellipse">
            <a:avLst/>
          </a:prstGeom>
          <a:solidFill>
            <a:srgbClr val="163E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28600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7"/>
                </a:solidFill>
              </a:rPr>
              <a:t>Слабость + угроза 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4F3ED"/>
          </a:solidFill>
          <a:ln w="12700">
            <a:solidFill>
              <a:srgbClr val="DBE2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rgbClr val="163E3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28600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7"/>
                </a:solidFill>
              </a:rPr>
              <a:t>Что проверить в первую очередь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GAP: разрыв в числах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36D"/>
                </a:solidFill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3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[N]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2736D"/>
                </a:solidFill>
              </a:rPr>
              <a:t>Сейчас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3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[N]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2736D"/>
                </a:solidFill>
              </a:rPr>
              <a:t>Цель через год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44C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[N]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2736D"/>
                </a:solidFill>
              </a:rPr>
              <a:t>Разрыв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 и ограничения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36D"/>
                </a:solidFill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2560320"/>
          </a:xfrm>
          <a:prstGeom prst="roundRect">
            <a:avLst>
              <a:gd name="adj" fmla="val 5357"/>
            </a:avLst>
          </a:prstGeom>
          <a:solidFill>
            <a:srgbClr val="F4F3ED"/>
          </a:solidFill>
          <a:ln w="12700">
            <a:solidFill>
              <a:srgbClr val="DBE2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27"/>
                </a:solidFill>
              </a:rPr>
              <a:t>Главный вывод одной фразой · 2–3 варианта стратегии · чего данные не позволяют утверждать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36D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2560320"/>
          </a:xfrm>
          <a:prstGeom prst="roundRect">
            <a:avLst>
              <a:gd name="adj" fmla="val 5357"/>
            </a:avLst>
          </a:prstGeom>
          <a:solidFill>
            <a:srgbClr val="F4F3ED"/>
          </a:solidFill>
          <a:ln w="12700">
            <a:solidFill>
              <a:srgbClr val="DBE2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27"/>
                </a:solidFill>
              </a:rPr>
              <a:t>Сильнейший аргумент против моего вывода — и мой ответ на него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Маркетинговая стратегия — шаблон презентации</dc:title>
  <dc:subject>PptxGenJS Presentation</dc:subject>
  <dc:creator>PptxGenJS</dc:creator>
  <cp:lastModifiedBy>PptxGenJS</cp:lastModifiedBy>
  <cp:revision>1</cp:revision>
  <dcterms:created xsi:type="dcterms:W3CDTF">2026-10-17T07:01:50Z</dcterms:created>
  <dcterms:modified xsi:type="dcterms:W3CDTF">2026-10-17T07:01:50Z</dcterms:modified>
</cp:coreProperties>
</file>